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Jorge Fuentes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Roboto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1-13T13:19:37.556">
    <p:pos x="893" y="744"/>
    <p:text>Abrirlo por producto de crédito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5-11-13T13:19:53.896">
    <p:pos x="2797" y="1170"/>
    <p:text>abrirlo por producto de crédito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1-13T13:24:38.419">
    <p:pos x="2909" y="1175"/>
    <p:text>% de redescuento por producto de crédito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2e9e5517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2e9e5517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2e9e5517c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2e9e5517c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2e9e5517c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2e9e5517c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2e9e5517c_0_3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2e9e5517c_0_3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2e9e5517c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2e9e5517c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e9e5517c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2e9e5517c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2e9e5517c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2e9e5517c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2e9e5517c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2e9e5517c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1.xml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2.xml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796400"/>
            <a:ext cx="8520600" cy="155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" sz="3000"/>
              <a:t>Efecto de retroalimentación del IBC: </a:t>
            </a:r>
            <a:r>
              <a:rPr lang="es" sz="3000"/>
              <a:t>cómo la metodología de cálculo de la tasa de IBC excluye a los prestatarios de mayor riesgo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Mecánica</a:t>
            </a:r>
            <a:r>
              <a:rPr lang="es"/>
              <a:t> de cálculo del IBC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0175"/>
            <a:ext cx="8520600" cy="18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El IBC define el techo de usura y se calcula como el promedio ponderado de las tasas de colocación del sistema financiero.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H</a:t>
            </a:r>
            <a:r>
              <a:rPr lang="es"/>
              <a:t>ipótesis: la metodología genera un efecto de retroalimentación descendente, al incorporar créditos de bajo riesgo (garantizados) que reducen artificialmente el promedio.</a:t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0" y="3386479"/>
            <a:ext cx="2726700" cy="669000"/>
          </a:xfrm>
          <a:prstGeom prst="homePlate">
            <a:avLst>
              <a:gd fmla="val 50000" name="adj"/>
            </a:avLst>
          </a:prstGeom>
          <a:solidFill>
            <a:srgbClr val="801F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+"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garantías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2263425" y="3386264"/>
            <a:ext cx="2541300" cy="669000"/>
          </a:xfrm>
          <a:prstGeom prst="chevron">
            <a:avLst>
              <a:gd fmla="val 50000" name="adj"/>
            </a:avLst>
          </a:prstGeom>
          <a:solidFill>
            <a:srgbClr val="A729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-"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tasa promedio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4329974" y="3386264"/>
            <a:ext cx="2541300" cy="669000"/>
          </a:xfrm>
          <a:prstGeom prst="chevron">
            <a:avLst>
              <a:gd fmla="val 50000" name="adj"/>
            </a:avLst>
          </a:prstGeom>
          <a:solidFill>
            <a:srgbClr val="B02B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-"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IBC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6396739" y="3386264"/>
            <a:ext cx="2541300" cy="669000"/>
          </a:xfrm>
          <a:prstGeom prst="chevron">
            <a:avLst>
              <a:gd fmla="val 50000" name="adj"/>
            </a:avLst>
          </a:prstGeom>
          <a:solidFill>
            <a:srgbClr val="BE2F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+"/>
            </a:pPr>
            <a:r>
              <a:rPr lang="es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Exclusión</a:t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Metodolog</a:t>
            </a:r>
            <a:r>
              <a:rPr lang="es"/>
              <a:t>ía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Fuente: SFC </a:t>
            </a:r>
            <a:r>
              <a:rPr b="1" lang="es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Tasas de interés activas por tipo de crédito – Histórico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Variables: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tasa_efectiva_promedio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tipo_de_garant_a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montos_desembolsados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tipo_municipio (rural/urbano)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/>
              <a:t>Medidas: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IBC_all (proxy total)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IBC_con_garantía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IBC_sin_garantía (contrafactual)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s"/>
              <a:t>Cohorte de tasas bajas (percentil 25 ponderado)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Hallazgos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1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00" y="1591525"/>
            <a:ext cx="3804927" cy="235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858" y="1591525"/>
            <a:ext cx="4459768" cy="235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9221" y="1181729"/>
            <a:ext cx="5820290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Hallazgos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Las colocaciones del FAG</a:t>
            </a:r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57900"/>
            <a:ext cx="3939215" cy="26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0465" y="1857900"/>
            <a:ext cx="3948308" cy="26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75" y="2005322"/>
            <a:ext cx="3803975" cy="24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07551" y="2005325"/>
            <a:ext cx="3803975" cy="2554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738" y="1865375"/>
            <a:ext cx="3889890" cy="259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925" y="1865375"/>
            <a:ext cx="3954604" cy="259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8375" y="1644575"/>
            <a:ext cx="5008374" cy="326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