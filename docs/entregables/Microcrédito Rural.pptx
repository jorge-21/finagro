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TikTok Sans"/>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ikTokSans-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TikTok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06938b1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06938b1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06938b13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806938b13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06938b13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06938b13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06938b13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06938b13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06938b13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06938b13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06938b13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06938b13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06938b13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06938b13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06938b13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06938b13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06938b13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06938b13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06938b13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06938b13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ikTok Sans"/>
              <a:buNone/>
              <a:defRPr sz="2800">
                <a:solidFill>
                  <a:schemeClr val="dk1"/>
                </a:solidFill>
                <a:latin typeface="TikTok Sans"/>
                <a:ea typeface="TikTok Sans"/>
                <a:cs typeface="TikTok Sans"/>
                <a:sym typeface="TikTok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TikTok Sans"/>
              <a:buChar char="●"/>
              <a:defRPr sz="1800">
                <a:solidFill>
                  <a:schemeClr val="dk2"/>
                </a:solidFill>
                <a:latin typeface="TikTok Sans"/>
                <a:ea typeface="TikTok Sans"/>
                <a:cs typeface="TikTok Sans"/>
                <a:sym typeface="TikTok Sans"/>
              </a:defRPr>
            </a:lvl1pPr>
            <a:lvl2pPr indent="-317500" lvl="1" marL="9144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2pPr>
            <a:lvl3pPr indent="-317500" lvl="2" marL="13716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3pPr>
            <a:lvl4pPr indent="-317500" lvl="3" marL="18288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4pPr>
            <a:lvl5pPr indent="-317500" lvl="4" marL="22860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5pPr>
            <a:lvl6pPr indent="-317500" lvl="5" marL="27432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6pPr>
            <a:lvl7pPr indent="-317500" lvl="6" marL="32004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7pPr>
            <a:lvl8pPr indent="-317500" lvl="7" marL="36576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8pPr>
            <a:lvl9pPr indent="-317500" lvl="8" marL="4114800">
              <a:lnSpc>
                <a:spcPct val="115000"/>
              </a:lnSpc>
              <a:spcBef>
                <a:spcPts val="0"/>
              </a:spcBef>
              <a:spcAft>
                <a:spcPts val="0"/>
              </a:spcAft>
              <a:buClr>
                <a:schemeClr val="dk2"/>
              </a:buClr>
              <a:buSzPts val="1400"/>
              <a:buFont typeface="TikTok Sans"/>
              <a:buChar char="■"/>
              <a:defRPr>
                <a:solidFill>
                  <a:schemeClr val="dk2"/>
                </a:solidFill>
                <a:latin typeface="TikTok Sans"/>
                <a:ea typeface="TikTok Sans"/>
                <a:cs typeface="TikTok Sans"/>
                <a:sym typeface="TikTok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s://www.finagro.com.co/node/133773" TargetMode="External"/><Relationship Id="rId5" Type="http://schemas.openxmlformats.org/officeDocument/2006/relationships/hyperlink" Target="https://www.superfinanciera.gov.co/publicaciones/10115702/superfinanciera-certifica-el-interes-bancario-corriente/" TargetMode="External"/><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Microcr</a:t>
            </a:r>
            <a:r>
              <a:rPr lang="es"/>
              <a:t>édito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Finagro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720"/>
              <a:t>A partir del 2024, la participaci</a:t>
            </a:r>
            <a:r>
              <a:rPr lang="es" sz="1720"/>
              <a:t>ón del microcrédito disminuyó del 22% al 2% en tan solo un mes. </a:t>
            </a:r>
            <a:endParaRPr sz="1720"/>
          </a:p>
        </p:txBody>
      </p:sp>
      <p:pic>
        <p:nvPicPr>
          <p:cNvPr id="61" name="Google Shape;61;p14" title="Gráfico"/>
          <p:cNvPicPr preferRelativeResize="0"/>
          <p:nvPr/>
        </p:nvPicPr>
        <p:blipFill>
          <a:blip r:embed="rId3">
            <a:alphaModFix/>
          </a:blip>
          <a:stretch>
            <a:fillRect/>
          </a:stretch>
        </p:blipFill>
        <p:spPr>
          <a:xfrm>
            <a:off x="755888" y="1057550"/>
            <a:ext cx="7632225" cy="3886925"/>
          </a:xfrm>
          <a:prstGeom prst="rect">
            <a:avLst/>
          </a:prstGeom>
          <a:noFill/>
          <a:ln>
            <a:noFill/>
          </a:ln>
        </p:spPr>
      </p:pic>
      <p:cxnSp>
        <p:nvCxnSpPr>
          <p:cNvPr id="62" name="Google Shape;62;p14"/>
          <p:cNvCxnSpPr/>
          <p:nvPr/>
        </p:nvCxnSpPr>
        <p:spPr>
          <a:xfrm>
            <a:off x="6352950" y="1822450"/>
            <a:ext cx="0" cy="2455800"/>
          </a:xfrm>
          <a:prstGeom prst="straightConnector1">
            <a:avLst/>
          </a:prstGeom>
          <a:noFill/>
          <a:ln cap="flat" cmpd="sng" w="19050">
            <a:solidFill>
              <a:srgbClr val="999999"/>
            </a:solidFill>
            <a:prstDash val="dash"/>
            <a:round/>
            <a:headEnd len="med" w="med" type="oval"/>
            <a:tailEnd len="med" w="med" type="none"/>
          </a:ln>
        </p:spPr>
      </p:cxnSp>
      <p:sp>
        <p:nvSpPr>
          <p:cNvPr id="63" name="Google Shape;63;p14"/>
          <p:cNvSpPr txBox="1"/>
          <p:nvPr/>
        </p:nvSpPr>
        <p:spPr>
          <a:xfrm>
            <a:off x="5909550" y="1472650"/>
            <a:ext cx="886800" cy="349800"/>
          </a:xfrm>
          <a:prstGeom prst="rect">
            <a:avLst/>
          </a:prstGeom>
          <a:noFill/>
          <a:ln>
            <a:noFill/>
          </a:ln>
        </p:spPr>
        <p:txBody>
          <a:bodyPr anchorCtr="0" anchor="t" bIns="54000" lIns="18000" spcFirstLastPara="1" rIns="18000" wrap="square" tIns="18000">
            <a:spAutoFit/>
          </a:bodyPr>
          <a:lstStyle/>
          <a:p>
            <a:pPr indent="0" lvl="0" marL="0" rtl="0" algn="ctr">
              <a:spcBef>
                <a:spcPts val="0"/>
              </a:spcBef>
              <a:spcAft>
                <a:spcPts val="0"/>
              </a:spcAft>
              <a:buNone/>
            </a:pPr>
            <a:r>
              <a:rPr lang="es" sz="900">
                <a:solidFill>
                  <a:schemeClr val="dk2"/>
                </a:solidFill>
                <a:latin typeface="TikTok Sans"/>
                <a:ea typeface="TikTok Sans"/>
                <a:cs typeface="TikTok Sans"/>
                <a:sym typeface="TikTok Sans"/>
              </a:rPr>
              <a:t>¿Qué pasó aquí?</a:t>
            </a:r>
            <a:endParaRPr sz="900">
              <a:solidFill>
                <a:schemeClr val="dk2"/>
              </a:solidFill>
              <a:latin typeface="TikTok Sans"/>
              <a:ea typeface="TikTok Sans"/>
              <a:cs typeface="TikTok Sans"/>
              <a:sym typeface="TikTok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2233123" y="229450"/>
            <a:ext cx="4839225" cy="4565901"/>
          </a:xfrm>
          <a:prstGeom prst="rect">
            <a:avLst/>
          </a:prstGeom>
          <a:noFill/>
          <a:ln>
            <a:noFill/>
          </a:ln>
        </p:spPr>
      </p:pic>
      <p:sp>
        <p:nvSpPr>
          <p:cNvPr id="69" name="Google Shape;69;p15"/>
          <p:cNvSpPr/>
          <p:nvPr/>
        </p:nvSpPr>
        <p:spPr>
          <a:xfrm>
            <a:off x="2233123" y="4261625"/>
            <a:ext cx="4885800" cy="328500"/>
          </a:xfrm>
          <a:prstGeom prst="rect">
            <a:avLst/>
          </a:prstGeom>
          <a:noFill/>
          <a:ln cap="flat" cmpd="sng" w="19050">
            <a:solidFill>
              <a:srgbClr val="F76F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
        <p:nvSpPr>
          <p:cNvPr id="70" name="Google Shape;70;p15"/>
          <p:cNvSpPr txBox="1"/>
          <p:nvPr/>
        </p:nvSpPr>
        <p:spPr>
          <a:xfrm>
            <a:off x="65125" y="4694454"/>
            <a:ext cx="1037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s" sz="600"/>
              <a:t>Fuente:</a:t>
            </a:r>
            <a:endParaRPr b="1" i="1" sz="600"/>
          </a:p>
          <a:p>
            <a:pPr indent="0" lvl="0" marL="0" rtl="0" algn="l">
              <a:spcBef>
                <a:spcPts val="0"/>
              </a:spcBef>
              <a:spcAft>
                <a:spcPts val="0"/>
              </a:spcAft>
              <a:buNone/>
            </a:pPr>
            <a:r>
              <a:rPr lang="es" sz="600"/>
              <a:t>https://investiga.banrep.gov.co/es/espe/espe109#6.-discusi%C3%B3n</a:t>
            </a:r>
            <a:endParaRPr sz="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title="Gráfico"/>
          <p:cNvPicPr preferRelativeResize="0"/>
          <p:nvPr/>
        </p:nvPicPr>
        <p:blipFill>
          <a:blip r:embed="rId3">
            <a:alphaModFix/>
          </a:blip>
          <a:stretch>
            <a:fillRect/>
          </a:stretch>
        </p:blipFill>
        <p:spPr>
          <a:xfrm>
            <a:off x="820625" y="993166"/>
            <a:ext cx="7502740" cy="3820976"/>
          </a:xfrm>
          <a:prstGeom prst="rect">
            <a:avLst/>
          </a:prstGeom>
          <a:noFill/>
          <a:ln>
            <a:noFill/>
          </a:ln>
        </p:spPr>
      </p:pic>
      <p:cxnSp>
        <p:nvCxnSpPr>
          <p:cNvPr id="76" name="Google Shape;76;p16"/>
          <p:cNvCxnSpPr>
            <a:stCxn id="77" idx="2"/>
          </p:cNvCxnSpPr>
          <p:nvPr/>
        </p:nvCxnSpPr>
        <p:spPr>
          <a:xfrm>
            <a:off x="6374750" y="1489616"/>
            <a:ext cx="3000" cy="2784000"/>
          </a:xfrm>
          <a:prstGeom prst="straightConnector1">
            <a:avLst/>
          </a:prstGeom>
          <a:noFill/>
          <a:ln cap="flat" cmpd="sng" w="19050">
            <a:solidFill>
              <a:srgbClr val="999999"/>
            </a:solidFill>
            <a:prstDash val="dash"/>
            <a:round/>
            <a:headEnd len="med" w="med" type="oval"/>
            <a:tailEnd len="med" w="med" type="none"/>
          </a:ln>
        </p:spPr>
      </p:cxnSp>
      <p:sp>
        <p:nvSpPr>
          <p:cNvPr id="77" name="Google Shape;77;p16"/>
          <p:cNvSpPr txBox="1"/>
          <p:nvPr/>
        </p:nvSpPr>
        <p:spPr>
          <a:xfrm>
            <a:off x="5931350" y="1278416"/>
            <a:ext cx="886800" cy="211200"/>
          </a:xfrm>
          <a:prstGeom prst="rect">
            <a:avLst/>
          </a:prstGeom>
          <a:noFill/>
          <a:ln>
            <a:noFill/>
          </a:ln>
        </p:spPr>
        <p:txBody>
          <a:bodyPr anchorCtr="0" anchor="t" bIns="54000" lIns="18000" spcFirstLastPara="1" rIns="18000" wrap="square" tIns="18000">
            <a:spAutoFit/>
          </a:bodyPr>
          <a:lstStyle/>
          <a:p>
            <a:pPr indent="0" lvl="0" marL="0" rtl="0" algn="ctr">
              <a:spcBef>
                <a:spcPts val="0"/>
              </a:spcBef>
              <a:spcAft>
                <a:spcPts val="0"/>
              </a:spcAft>
              <a:buNone/>
            </a:pPr>
            <a:r>
              <a:rPr lang="es" sz="900">
                <a:solidFill>
                  <a:schemeClr val="dk2"/>
                </a:solidFill>
                <a:latin typeface="TikTok Sans"/>
                <a:ea typeface="TikTok Sans"/>
                <a:cs typeface="TikTok Sans"/>
                <a:sym typeface="TikTok Sans"/>
              </a:rPr>
              <a:t>Res 8 de 2023</a:t>
            </a:r>
            <a:endParaRPr sz="900">
              <a:solidFill>
                <a:schemeClr val="dk2"/>
              </a:solidFill>
              <a:latin typeface="TikTok Sans"/>
              <a:ea typeface="TikTok Sans"/>
              <a:cs typeface="TikTok Sans"/>
              <a:sym typeface="TikTok Sans"/>
            </a:endParaRPr>
          </a:p>
        </p:txBody>
      </p:sp>
      <p:sp>
        <p:nvSpPr>
          <p:cNvPr id="78" name="Google Shape;78;p16"/>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720"/>
              <a:t>Con esta resolución, las tasas de las colocaciones de microcrédito cayeron drásticamente, junto con el volumen</a:t>
            </a:r>
            <a:endParaRPr sz="1720"/>
          </a:p>
        </p:txBody>
      </p:sp>
      <p:cxnSp>
        <p:nvCxnSpPr>
          <p:cNvPr id="79" name="Google Shape;79;p16"/>
          <p:cNvCxnSpPr>
            <a:stCxn id="80" idx="2"/>
          </p:cNvCxnSpPr>
          <p:nvPr/>
        </p:nvCxnSpPr>
        <p:spPr>
          <a:xfrm>
            <a:off x="7675550" y="1489616"/>
            <a:ext cx="3000" cy="2784000"/>
          </a:xfrm>
          <a:prstGeom prst="straightConnector1">
            <a:avLst/>
          </a:prstGeom>
          <a:noFill/>
          <a:ln cap="flat" cmpd="sng" w="19050">
            <a:solidFill>
              <a:srgbClr val="999999"/>
            </a:solidFill>
            <a:prstDash val="dash"/>
            <a:round/>
            <a:headEnd len="med" w="med" type="oval"/>
            <a:tailEnd len="med" w="med" type="none"/>
          </a:ln>
        </p:spPr>
      </p:cxnSp>
      <p:sp>
        <p:nvSpPr>
          <p:cNvPr id="80" name="Google Shape;80;p16"/>
          <p:cNvSpPr txBox="1"/>
          <p:nvPr/>
        </p:nvSpPr>
        <p:spPr>
          <a:xfrm>
            <a:off x="7232150" y="1278416"/>
            <a:ext cx="886800" cy="211200"/>
          </a:xfrm>
          <a:prstGeom prst="rect">
            <a:avLst/>
          </a:prstGeom>
          <a:noFill/>
          <a:ln>
            <a:noFill/>
          </a:ln>
        </p:spPr>
        <p:txBody>
          <a:bodyPr anchorCtr="0" anchor="t" bIns="54000" lIns="18000" spcFirstLastPara="1" rIns="18000" wrap="square" tIns="18000">
            <a:spAutoFit/>
          </a:bodyPr>
          <a:lstStyle/>
          <a:p>
            <a:pPr indent="0" lvl="0" marL="0" rtl="0" algn="ctr">
              <a:spcBef>
                <a:spcPts val="0"/>
              </a:spcBef>
              <a:spcAft>
                <a:spcPts val="0"/>
              </a:spcAft>
              <a:buNone/>
            </a:pPr>
            <a:r>
              <a:rPr lang="es" sz="900">
                <a:solidFill>
                  <a:schemeClr val="dk2"/>
                </a:solidFill>
                <a:latin typeface="TikTok Sans"/>
                <a:ea typeface="TikTok Sans"/>
                <a:cs typeface="TikTok Sans"/>
                <a:sym typeface="TikTok Sans"/>
              </a:rPr>
              <a:t>Res 3 de 2024</a:t>
            </a:r>
            <a:endParaRPr sz="900">
              <a:solidFill>
                <a:schemeClr val="dk2"/>
              </a:solidFill>
              <a:latin typeface="TikTok Sans"/>
              <a:ea typeface="TikTok Sans"/>
              <a:cs typeface="TikTok Sans"/>
              <a:sym typeface="TikTo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Además, la figura de microempresario se dividió en </a:t>
            </a:r>
            <a:r>
              <a:rPr b="1" lang="es" sz="1620"/>
              <a:t>microempresario pequeño productor</a:t>
            </a:r>
            <a:r>
              <a:rPr lang="es" sz="1620"/>
              <a:t> y </a:t>
            </a:r>
            <a:r>
              <a:rPr b="1" lang="es" sz="1620"/>
              <a:t>microempresario pequeño productor de ingresos bajos.</a:t>
            </a:r>
            <a:endParaRPr b="1" sz="1620"/>
          </a:p>
        </p:txBody>
      </p:sp>
      <p:pic>
        <p:nvPicPr>
          <p:cNvPr id="86" name="Google Shape;86;p17"/>
          <p:cNvPicPr preferRelativeResize="0"/>
          <p:nvPr/>
        </p:nvPicPr>
        <p:blipFill>
          <a:blip r:embed="rId3">
            <a:alphaModFix/>
          </a:blip>
          <a:stretch>
            <a:fillRect/>
          </a:stretch>
        </p:blipFill>
        <p:spPr>
          <a:xfrm>
            <a:off x="311700" y="1580700"/>
            <a:ext cx="4023449" cy="2138974"/>
          </a:xfrm>
          <a:prstGeom prst="rect">
            <a:avLst/>
          </a:prstGeom>
          <a:noFill/>
          <a:ln>
            <a:noFill/>
          </a:ln>
        </p:spPr>
      </p:pic>
      <p:pic>
        <p:nvPicPr>
          <p:cNvPr id="87" name="Google Shape;87;p17"/>
          <p:cNvPicPr preferRelativeResize="0"/>
          <p:nvPr/>
        </p:nvPicPr>
        <p:blipFill>
          <a:blip r:embed="rId4">
            <a:alphaModFix/>
          </a:blip>
          <a:stretch>
            <a:fillRect/>
          </a:stretch>
        </p:blipFill>
        <p:spPr>
          <a:xfrm>
            <a:off x="4402225" y="1550400"/>
            <a:ext cx="4137451" cy="2199575"/>
          </a:xfrm>
          <a:prstGeom prst="rect">
            <a:avLst/>
          </a:prstGeom>
          <a:noFill/>
          <a:ln>
            <a:noFill/>
          </a:ln>
        </p:spPr>
      </p:pic>
      <p:sp>
        <p:nvSpPr>
          <p:cNvPr id="88" name="Google Shape;88;p17"/>
          <p:cNvSpPr/>
          <p:nvPr/>
        </p:nvSpPr>
        <p:spPr>
          <a:xfrm>
            <a:off x="1929625" y="1666875"/>
            <a:ext cx="854100" cy="1658700"/>
          </a:xfrm>
          <a:prstGeom prst="rect">
            <a:avLst/>
          </a:prstGeom>
          <a:noFill/>
          <a:ln cap="flat" cmpd="sng" w="19050">
            <a:solidFill>
              <a:srgbClr val="F76F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
        <p:nvSpPr>
          <p:cNvPr id="89" name="Google Shape;89;p17"/>
          <p:cNvSpPr/>
          <p:nvPr/>
        </p:nvSpPr>
        <p:spPr>
          <a:xfrm>
            <a:off x="5888700" y="1640000"/>
            <a:ext cx="958200" cy="1867500"/>
          </a:xfrm>
          <a:prstGeom prst="rect">
            <a:avLst/>
          </a:prstGeom>
          <a:noFill/>
          <a:ln cap="flat" cmpd="sng" w="19050">
            <a:solidFill>
              <a:srgbClr val="F76F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
        <p:nvSpPr>
          <p:cNvPr id="90" name="Google Shape;90;p17"/>
          <p:cNvSpPr txBox="1"/>
          <p:nvPr/>
        </p:nvSpPr>
        <p:spPr>
          <a:xfrm>
            <a:off x="510400" y="3918150"/>
            <a:ext cx="5515500" cy="729000"/>
          </a:xfrm>
          <a:prstGeom prst="rect">
            <a:avLst/>
          </a:prstGeom>
          <a:noFill/>
          <a:ln>
            <a:noFill/>
          </a:ln>
        </p:spPr>
        <p:txBody>
          <a:bodyPr anchorCtr="0" anchor="t" bIns="18000" lIns="18000" spcFirstLastPara="1" rIns="18000" wrap="square" tIns="18000">
            <a:spAutoFit/>
          </a:bodyPr>
          <a:lstStyle/>
          <a:p>
            <a:pPr indent="0" lvl="0" marL="0" rtl="0" algn="l">
              <a:spcBef>
                <a:spcPts val="0"/>
              </a:spcBef>
              <a:spcAft>
                <a:spcPts val="0"/>
              </a:spcAft>
              <a:buNone/>
            </a:pPr>
            <a:r>
              <a:rPr lang="es" sz="900">
                <a:solidFill>
                  <a:schemeClr val="dk2"/>
                </a:solidFill>
                <a:latin typeface="TikTok Sans"/>
                <a:ea typeface="TikTok Sans"/>
                <a:cs typeface="TikTok Sans"/>
                <a:sym typeface="TikTok Sans"/>
              </a:rPr>
              <a:t>Con esta vista, también se evidenció un cambio de comportamiento para el 2025.</a:t>
            </a:r>
            <a:endParaRPr sz="900">
              <a:solidFill>
                <a:schemeClr val="dk2"/>
              </a:solidFill>
              <a:latin typeface="TikTok Sans"/>
              <a:ea typeface="TikTok Sans"/>
              <a:cs typeface="TikTok Sans"/>
              <a:sym typeface="TikTok Sans"/>
            </a:endParaRPr>
          </a:p>
          <a:p>
            <a:pPr indent="-285750" lvl="0" marL="457200" rtl="0" algn="l">
              <a:spcBef>
                <a:spcPts val="0"/>
              </a:spcBef>
              <a:spcAft>
                <a:spcPts val="0"/>
              </a:spcAft>
              <a:buClr>
                <a:schemeClr val="dk2"/>
              </a:buClr>
              <a:buSzPts val="900"/>
              <a:buFont typeface="TikTok Sans"/>
              <a:buChar char="●"/>
            </a:pPr>
            <a:r>
              <a:rPr lang="es" sz="900">
                <a:solidFill>
                  <a:schemeClr val="dk2"/>
                </a:solidFill>
                <a:latin typeface="TikTok Sans"/>
                <a:ea typeface="TikTok Sans"/>
                <a:cs typeface="TikTok Sans"/>
                <a:sym typeface="TikTok Sans"/>
              </a:rPr>
              <a:t>Se crearon nuevos tipos de beneficiarios: Microempresario mediano productor y microempresario popular ppib</a:t>
            </a:r>
            <a:endParaRPr sz="900">
              <a:solidFill>
                <a:schemeClr val="dk2"/>
              </a:solidFill>
              <a:latin typeface="TikTok Sans"/>
              <a:ea typeface="TikTok Sans"/>
              <a:cs typeface="TikTok Sans"/>
              <a:sym typeface="TikTok Sans"/>
            </a:endParaRPr>
          </a:p>
          <a:p>
            <a:pPr indent="-285750" lvl="0" marL="457200" rtl="0" algn="l">
              <a:spcBef>
                <a:spcPts val="0"/>
              </a:spcBef>
              <a:spcAft>
                <a:spcPts val="0"/>
              </a:spcAft>
              <a:buClr>
                <a:schemeClr val="dk2"/>
              </a:buClr>
              <a:buSzPts val="900"/>
              <a:buFont typeface="TikTok Sans"/>
              <a:buChar char="●"/>
            </a:pPr>
            <a:r>
              <a:rPr lang="es" sz="900">
                <a:solidFill>
                  <a:schemeClr val="dk2"/>
                </a:solidFill>
                <a:latin typeface="TikTok Sans"/>
                <a:ea typeface="TikTok Sans"/>
                <a:cs typeface="TikTok Sans"/>
                <a:sym typeface="TikTok Sans"/>
              </a:rPr>
              <a:t>Las colocaciones al microempresario popular ppib presentaron una tasa de interés promedio más alta que otros microcréditos.</a:t>
            </a:r>
            <a:endParaRPr sz="900">
              <a:solidFill>
                <a:schemeClr val="dk2"/>
              </a:solidFill>
              <a:latin typeface="TikTok Sans"/>
              <a:ea typeface="TikTok Sans"/>
              <a:cs typeface="TikTok Sans"/>
              <a:sym typeface="TikTo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311700" y="1580700"/>
            <a:ext cx="4023449" cy="2138974"/>
          </a:xfrm>
          <a:prstGeom prst="rect">
            <a:avLst/>
          </a:prstGeom>
          <a:noFill/>
          <a:ln>
            <a:noFill/>
          </a:ln>
        </p:spPr>
      </p:pic>
      <p:sp>
        <p:nvSpPr>
          <p:cNvPr id="96" name="Google Shape;96;p18"/>
          <p:cNvSpPr/>
          <p:nvPr/>
        </p:nvSpPr>
        <p:spPr>
          <a:xfrm>
            <a:off x="311700" y="1466300"/>
            <a:ext cx="3764700" cy="17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TikTok Sans"/>
                <a:ea typeface="TikTok Sans"/>
                <a:cs typeface="TikTok Sans"/>
                <a:sym typeface="TikTok Sans"/>
              </a:rPr>
              <a:t>Valor desembolsado total normalizado (%)</a:t>
            </a:r>
            <a:endParaRPr sz="600">
              <a:latin typeface="TikTok Sans"/>
              <a:ea typeface="TikTok Sans"/>
              <a:cs typeface="TikTok Sans"/>
              <a:sym typeface="TikTok Sans"/>
            </a:endParaRPr>
          </a:p>
        </p:txBody>
      </p:sp>
      <p:sp>
        <p:nvSpPr>
          <p:cNvPr id="97" name="Google Shape;97;p18"/>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Para el 2025 se evidenció un cambio de comportamiento en el microcrédito con la creación de nuevos beneficiarios y un incremento en la tasa de interés promedio </a:t>
            </a:r>
            <a:endParaRPr b="1" sz="1620"/>
          </a:p>
        </p:txBody>
      </p:sp>
      <p:pic>
        <p:nvPicPr>
          <p:cNvPr id="98" name="Google Shape;98;p18"/>
          <p:cNvPicPr preferRelativeResize="0"/>
          <p:nvPr/>
        </p:nvPicPr>
        <p:blipFill>
          <a:blip r:embed="rId4">
            <a:alphaModFix/>
          </a:blip>
          <a:stretch>
            <a:fillRect/>
          </a:stretch>
        </p:blipFill>
        <p:spPr>
          <a:xfrm>
            <a:off x="4402225" y="1550400"/>
            <a:ext cx="4137451" cy="2199575"/>
          </a:xfrm>
          <a:prstGeom prst="rect">
            <a:avLst/>
          </a:prstGeom>
          <a:noFill/>
          <a:ln>
            <a:noFill/>
          </a:ln>
        </p:spPr>
      </p:pic>
      <p:sp>
        <p:nvSpPr>
          <p:cNvPr id="99" name="Google Shape;99;p18"/>
          <p:cNvSpPr/>
          <p:nvPr/>
        </p:nvSpPr>
        <p:spPr>
          <a:xfrm>
            <a:off x="2882175" y="1640000"/>
            <a:ext cx="569100" cy="1658700"/>
          </a:xfrm>
          <a:prstGeom prst="rect">
            <a:avLst/>
          </a:prstGeom>
          <a:noFill/>
          <a:ln cap="flat" cmpd="sng" w="19050">
            <a:solidFill>
              <a:srgbClr val="F76F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
        <p:nvSpPr>
          <p:cNvPr id="100" name="Google Shape;100;p18"/>
          <p:cNvSpPr/>
          <p:nvPr/>
        </p:nvSpPr>
        <p:spPr>
          <a:xfrm>
            <a:off x="6800750" y="1640000"/>
            <a:ext cx="828900" cy="1867500"/>
          </a:xfrm>
          <a:prstGeom prst="rect">
            <a:avLst/>
          </a:prstGeom>
          <a:noFill/>
          <a:ln cap="flat" cmpd="sng" w="19050">
            <a:solidFill>
              <a:srgbClr val="F76F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
        <p:nvSpPr>
          <p:cNvPr id="101" name="Google Shape;101;p18"/>
          <p:cNvSpPr txBox="1"/>
          <p:nvPr/>
        </p:nvSpPr>
        <p:spPr>
          <a:xfrm>
            <a:off x="510400" y="3918150"/>
            <a:ext cx="5515500" cy="174900"/>
          </a:xfrm>
          <a:prstGeom prst="rect">
            <a:avLst/>
          </a:prstGeom>
          <a:noFill/>
          <a:ln>
            <a:noFill/>
          </a:ln>
        </p:spPr>
        <p:txBody>
          <a:bodyPr anchorCtr="0" anchor="t" bIns="18000" lIns="18000" spcFirstLastPara="1" rIns="18000" wrap="square" tIns="18000">
            <a:spAutoFit/>
          </a:bodyPr>
          <a:lstStyle/>
          <a:p>
            <a:pPr indent="0" lvl="0" marL="0" rtl="0" algn="l">
              <a:spcBef>
                <a:spcPts val="0"/>
              </a:spcBef>
              <a:spcAft>
                <a:spcPts val="0"/>
              </a:spcAft>
              <a:buNone/>
            </a:pPr>
            <a:r>
              <a:rPr lang="es" sz="900">
                <a:solidFill>
                  <a:schemeClr val="dk2"/>
                </a:solidFill>
                <a:latin typeface="TikTok Sans"/>
                <a:ea typeface="TikTok Sans"/>
                <a:cs typeface="TikTok Sans"/>
                <a:sym typeface="TikTok Sans"/>
              </a:rPr>
              <a:t>¿Por qué?</a:t>
            </a:r>
            <a:endParaRPr sz="900">
              <a:solidFill>
                <a:schemeClr val="dk2"/>
              </a:solidFill>
              <a:latin typeface="TikTok Sans"/>
              <a:ea typeface="TikTok Sans"/>
              <a:cs typeface="TikTok Sans"/>
              <a:sym typeface="TikTok Sans"/>
            </a:endParaRPr>
          </a:p>
        </p:txBody>
      </p:sp>
      <p:sp>
        <p:nvSpPr>
          <p:cNvPr id="102" name="Google Shape;102;p18"/>
          <p:cNvSpPr/>
          <p:nvPr/>
        </p:nvSpPr>
        <p:spPr>
          <a:xfrm>
            <a:off x="4572000" y="1466300"/>
            <a:ext cx="3720300" cy="17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chemeClr val="dk1"/>
                </a:solidFill>
                <a:latin typeface="TikTok Sans"/>
                <a:ea typeface="TikTok Sans"/>
                <a:cs typeface="TikTok Sans"/>
                <a:sym typeface="TikTok Sans"/>
              </a:rPr>
              <a:t>Tasa de interés promedio (%EA)</a:t>
            </a:r>
            <a:endParaRPr sz="600">
              <a:latin typeface="TikTok Sans"/>
              <a:ea typeface="TikTok Sans"/>
              <a:cs typeface="TikTok Sans"/>
              <a:sym typeface="TikTo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9"/>
          <p:cNvPicPr preferRelativeResize="0"/>
          <p:nvPr/>
        </p:nvPicPr>
        <p:blipFill>
          <a:blip r:embed="rId3">
            <a:alphaModFix/>
          </a:blip>
          <a:stretch>
            <a:fillRect/>
          </a:stretch>
        </p:blipFill>
        <p:spPr>
          <a:xfrm>
            <a:off x="403228" y="1081238"/>
            <a:ext cx="5035674" cy="3426125"/>
          </a:xfrm>
          <a:prstGeom prst="rect">
            <a:avLst/>
          </a:prstGeom>
          <a:noFill/>
          <a:ln>
            <a:noFill/>
          </a:ln>
        </p:spPr>
      </p:pic>
      <p:sp>
        <p:nvSpPr>
          <p:cNvPr id="108" name="Google Shape;108;p19"/>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Al revisar el manual de crédito de Finagro para el 2025 se establecen las diferencias entre el </a:t>
            </a:r>
            <a:r>
              <a:rPr b="1" lang="es" sz="1620"/>
              <a:t>microempresario</a:t>
            </a:r>
            <a:r>
              <a:rPr lang="es" sz="1620"/>
              <a:t> y el </a:t>
            </a:r>
            <a:r>
              <a:rPr b="1" lang="es" sz="1620"/>
              <a:t>microempresario popular</a:t>
            </a:r>
            <a:endParaRPr b="1" sz="1620"/>
          </a:p>
        </p:txBody>
      </p:sp>
      <p:sp>
        <p:nvSpPr>
          <p:cNvPr id="109" name="Google Shape;109;p19"/>
          <p:cNvSpPr txBox="1"/>
          <p:nvPr/>
        </p:nvSpPr>
        <p:spPr>
          <a:xfrm>
            <a:off x="65125" y="4694454"/>
            <a:ext cx="1037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s" sz="600"/>
              <a:t>Fuente:</a:t>
            </a:r>
            <a:endParaRPr b="1" i="1" sz="600"/>
          </a:p>
          <a:p>
            <a:pPr indent="0" lvl="0" marL="0" rtl="0" algn="l">
              <a:spcBef>
                <a:spcPts val="0"/>
              </a:spcBef>
              <a:spcAft>
                <a:spcPts val="0"/>
              </a:spcAft>
              <a:buNone/>
            </a:pPr>
            <a:r>
              <a:rPr lang="es" sz="600" u="sng">
                <a:solidFill>
                  <a:schemeClr val="hlink"/>
                </a:solidFill>
                <a:hlinkClick r:id="rId4"/>
              </a:rPr>
              <a:t>https://www.finagro.com.co/node/133773</a:t>
            </a:r>
            <a:r>
              <a:rPr lang="es" sz="600"/>
              <a:t> - Manual de crédito</a:t>
            </a:r>
            <a:endParaRPr sz="600"/>
          </a:p>
          <a:p>
            <a:pPr indent="0" lvl="0" marL="0" rtl="0" algn="l">
              <a:spcBef>
                <a:spcPts val="0"/>
              </a:spcBef>
              <a:spcAft>
                <a:spcPts val="0"/>
              </a:spcAft>
              <a:buNone/>
            </a:pPr>
            <a:r>
              <a:rPr lang="es" sz="600"/>
              <a:t> </a:t>
            </a:r>
            <a:r>
              <a:rPr lang="es" sz="600" u="sng">
                <a:solidFill>
                  <a:schemeClr val="hlink"/>
                </a:solidFill>
                <a:hlinkClick r:id="rId5"/>
              </a:rPr>
              <a:t>https://www.superfinanciera.gov.co/publicaciones/10115702/superfinanciera-certifica-el-interes-bancario-corriente/</a:t>
            </a:r>
            <a:r>
              <a:rPr lang="es" sz="600"/>
              <a:t> - Usura del cr</a:t>
            </a:r>
            <a:r>
              <a:rPr lang="es" sz="600"/>
              <a:t>édito productivo popular</a:t>
            </a:r>
            <a:endParaRPr sz="600"/>
          </a:p>
        </p:txBody>
      </p:sp>
      <p:pic>
        <p:nvPicPr>
          <p:cNvPr id="110" name="Google Shape;110;p19"/>
          <p:cNvPicPr preferRelativeResize="0"/>
          <p:nvPr/>
        </p:nvPicPr>
        <p:blipFill>
          <a:blip r:embed="rId6">
            <a:alphaModFix/>
          </a:blip>
          <a:stretch>
            <a:fillRect/>
          </a:stretch>
        </p:blipFill>
        <p:spPr>
          <a:xfrm>
            <a:off x="5599450" y="2558499"/>
            <a:ext cx="2989325" cy="1736700"/>
          </a:xfrm>
          <a:prstGeom prst="rect">
            <a:avLst/>
          </a:prstGeom>
          <a:noFill/>
          <a:ln>
            <a:noFill/>
          </a:ln>
        </p:spPr>
      </p:pic>
      <p:sp>
        <p:nvSpPr>
          <p:cNvPr id="111" name="Google Shape;111;p19"/>
          <p:cNvSpPr txBox="1"/>
          <p:nvPr/>
        </p:nvSpPr>
        <p:spPr>
          <a:xfrm>
            <a:off x="5648263" y="2199530"/>
            <a:ext cx="2891700" cy="334200"/>
          </a:xfrm>
          <a:prstGeom prst="rect">
            <a:avLst/>
          </a:prstGeom>
          <a:noFill/>
          <a:ln>
            <a:noFill/>
          </a:ln>
        </p:spPr>
        <p:txBody>
          <a:bodyPr anchorCtr="0" anchor="t" bIns="18000" lIns="18000" spcFirstLastPara="1" rIns="18000" wrap="square" tIns="18000">
            <a:spAutoFit/>
          </a:bodyPr>
          <a:lstStyle/>
          <a:p>
            <a:pPr indent="0" lvl="0" marL="0" rtl="0" algn="l">
              <a:lnSpc>
                <a:spcPct val="115000"/>
              </a:lnSpc>
              <a:spcBef>
                <a:spcPts val="0"/>
              </a:spcBef>
              <a:spcAft>
                <a:spcPts val="0"/>
              </a:spcAft>
              <a:buClr>
                <a:schemeClr val="dk1"/>
              </a:buClr>
              <a:buSzPts val="1100"/>
              <a:buFont typeface="Arial"/>
              <a:buNone/>
            </a:pPr>
            <a:r>
              <a:rPr lang="es" sz="900">
                <a:solidFill>
                  <a:srgbClr val="4B4B4B"/>
                </a:solidFill>
                <a:highlight>
                  <a:srgbClr val="FFFFFF"/>
                </a:highlight>
              </a:rPr>
              <a:t>Tasas no certificadas por la SFC</a:t>
            </a:r>
            <a:endParaRPr sz="900">
              <a:solidFill>
                <a:srgbClr val="4B4B4B"/>
              </a:solidFill>
              <a:highlight>
                <a:srgbClr val="FFFFFF"/>
              </a:highlight>
            </a:endParaRPr>
          </a:p>
          <a:p>
            <a:pPr indent="0" lvl="0" marL="0" rtl="0" algn="l">
              <a:spcBef>
                <a:spcPts val="0"/>
              </a:spcBef>
              <a:spcAft>
                <a:spcPts val="0"/>
              </a:spcAft>
              <a:buNone/>
            </a:pPr>
            <a:r>
              <a:rPr lang="es" sz="900">
                <a:solidFill>
                  <a:srgbClr val="4B4B4B"/>
                </a:solidFill>
                <a:highlight>
                  <a:srgbClr val="FFFFFF"/>
                </a:highlight>
              </a:rPr>
              <a:t>basadas en el Interés Bancario Corriente</a:t>
            </a:r>
            <a:endParaRPr sz="900">
              <a:solidFill>
                <a:schemeClr val="dk2"/>
              </a:solidFill>
              <a:latin typeface="TikTok Sans"/>
              <a:ea typeface="TikTok Sans"/>
              <a:cs typeface="TikTok Sans"/>
              <a:sym typeface="TikTok Sans"/>
            </a:endParaRPr>
          </a:p>
        </p:txBody>
      </p:sp>
      <p:sp>
        <p:nvSpPr>
          <p:cNvPr id="112" name="Google Shape;112;p19"/>
          <p:cNvSpPr/>
          <p:nvPr/>
        </p:nvSpPr>
        <p:spPr>
          <a:xfrm>
            <a:off x="5462175" y="3899550"/>
            <a:ext cx="114000" cy="15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kTok Sans"/>
              <a:ea typeface="TikTok Sans"/>
              <a:cs typeface="TikTok Sans"/>
              <a:sym typeface="TikTo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La creación de estos nuevos beneficiarios con topes más altos representó un incremento en el volumen de colocaciones de microcrédito para el 2025.</a:t>
            </a:r>
            <a:endParaRPr b="1" sz="1620"/>
          </a:p>
        </p:txBody>
      </p:sp>
      <p:pic>
        <p:nvPicPr>
          <p:cNvPr id="118" name="Google Shape;118;p20"/>
          <p:cNvPicPr preferRelativeResize="0"/>
          <p:nvPr/>
        </p:nvPicPr>
        <p:blipFill>
          <a:blip r:embed="rId3">
            <a:alphaModFix/>
          </a:blip>
          <a:stretch>
            <a:fillRect/>
          </a:stretch>
        </p:blipFill>
        <p:spPr>
          <a:xfrm>
            <a:off x="816188" y="989550"/>
            <a:ext cx="7511637" cy="3993401"/>
          </a:xfrm>
          <a:prstGeom prst="rect">
            <a:avLst/>
          </a:prstGeom>
          <a:noFill/>
          <a:ln>
            <a:noFill/>
          </a:ln>
        </p:spPr>
      </p:pic>
      <p:cxnSp>
        <p:nvCxnSpPr>
          <p:cNvPr id="119" name="Google Shape;119;p20"/>
          <p:cNvCxnSpPr/>
          <p:nvPr/>
        </p:nvCxnSpPr>
        <p:spPr>
          <a:xfrm flipH="1" rot="10800000">
            <a:off x="3826150" y="3228775"/>
            <a:ext cx="2696100" cy="791100"/>
          </a:xfrm>
          <a:prstGeom prst="straightConnector1">
            <a:avLst/>
          </a:prstGeom>
          <a:noFill/>
          <a:ln cap="flat" cmpd="sng" w="9525">
            <a:solidFill>
              <a:schemeClr val="dk2"/>
            </a:solidFill>
            <a:prstDash val="solid"/>
            <a:round/>
            <a:headEnd len="med" w="med" type="none"/>
            <a:tailEnd len="med" w="med" type="triangle"/>
          </a:ln>
        </p:spPr>
      </p:cxnSp>
      <p:sp>
        <p:nvSpPr>
          <p:cNvPr id="120" name="Google Shape;120;p20"/>
          <p:cNvSpPr/>
          <p:nvPr/>
        </p:nvSpPr>
        <p:spPr>
          <a:xfrm rot="-5400000">
            <a:off x="-484350" y="2591125"/>
            <a:ext cx="3261000" cy="16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600">
                <a:latin typeface="TikTok Sans"/>
                <a:ea typeface="TikTok Sans"/>
                <a:cs typeface="TikTok Sans"/>
                <a:sym typeface="TikTok Sans"/>
              </a:rPr>
              <a:t>Valor de las colocaciones de microcrédito ($)</a:t>
            </a:r>
            <a:endParaRPr sz="600">
              <a:latin typeface="TikTok Sans"/>
              <a:ea typeface="TikTok Sans"/>
              <a:cs typeface="TikTok Sans"/>
              <a:sym typeface="TikTok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1298611" y="1250790"/>
            <a:ext cx="6644276" cy="3520426"/>
          </a:xfrm>
          <a:prstGeom prst="rect">
            <a:avLst/>
          </a:prstGeom>
          <a:noFill/>
          <a:ln>
            <a:noFill/>
          </a:ln>
        </p:spPr>
      </p:pic>
      <p:sp>
        <p:nvSpPr>
          <p:cNvPr id="126" name="Google Shape;126;p21"/>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El incremento de topes puede ser un primer paso para reactivar el microcrédito rural. Sin embargo, las garantías, que son un factor importante en la inclusión disminuyeron su participación desde el 2024.</a:t>
            </a:r>
            <a:endParaRPr b="1" sz="1620"/>
          </a:p>
        </p:txBody>
      </p:sp>
      <p:sp>
        <p:nvSpPr>
          <p:cNvPr id="127" name="Google Shape;127;p21"/>
          <p:cNvSpPr/>
          <p:nvPr/>
        </p:nvSpPr>
        <p:spPr>
          <a:xfrm rot="-5400000">
            <a:off x="28200" y="2716225"/>
            <a:ext cx="3010800" cy="16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600">
                <a:latin typeface="TikTok Sans"/>
                <a:ea typeface="TikTok Sans"/>
                <a:cs typeface="TikTok Sans"/>
                <a:sym typeface="TikTok Sans"/>
              </a:rPr>
              <a:t>Valor de las colocaciones de microcrédito (% del total)</a:t>
            </a:r>
            <a:endParaRPr sz="600">
              <a:latin typeface="TikTok Sans"/>
              <a:ea typeface="TikTok Sans"/>
              <a:cs typeface="TikTok Sans"/>
              <a:sym typeface="TikTok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2"/>
          <p:cNvPicPr preferRelativeResize="0"/>
          <p:nvPr/>
        </p:nvPicPr>
        <p:blipFill>
          <a:blip r:embed="rId3">
            <a:alphaModFix/>
          </a:blip>
          <a:stretch>
            <a:fillRect/>
          </a:stretch>
        </p:blipFill>
        <p:spPr>
          <a:xfrm>
            <a:off x="154183" y="1506855"/>
            <a:ext cx="4445901" cy="2350894"/>
          </a:xfrm>
          <a:prstGeom prst="rect">
            <a:avLst/>
          </a:prstGeom>
          <a:noFill/>
          <a:ln>
            <a:noFill/>
          </a:ln>
        </p:spPr>
      </p:pic>
      <p:pic>
        <p:nvPicPr>
          <p:cNvPr id="133" name="Google Shape;133;p22"/>
          <p:cNvPicPr preferRelativeResize="0"/>
          <p:nvPr/>
        </p:nvPicPr>
        <p:blipFill>
          <a:blip r:embed="rId4">
            <a:alphaModFix/>
          </a:blip>
          <a:stretch>
            <a:fillRect/>
          </a:stretch>
        </p:blipFill>
        <p:spPr>
          <a:xfrm>
            <a:off x="4600083" y="1468150"/>
            <a:ext cx="4445890" cy="2350906"/>
          </a:xfrm>
          <a:prstGeom prst="rect">
            <a:avLst/>
          </a:prstGeom>
          <a:noFill/>
          <a:ln>
            <a:noFill/>
          </a:ln>
        </p:spPr>
      </p:pic>
      <p:sp>
        <p:nvSpPr>
          <p:cNvPr id="134" name="Google Shape;134;p22"/>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De acuerdo a los datos, para el 2025, la presencia de garantías permite a estos productores acceder a </a:t>
            </a:r>
            <a:r>
              <a:rPr b="1" lang="es" sz="1620"/>
              <a:t>tasas más bajas</a:t>
            </a:r>
            <a:r>
              <a:rPr lang="es" sz="1620"/>
              <a:t> y </a:t>
            </a:r>
            <a:r>
              <a:rPr b="1" lang="es" sz="1620"/>
              <a:t>montos más altos. </a:t>
            </a:r>
            <a:r>
              <a:rPr lang="es" sz="1620"/>
              <a:t>A pesar de esto, menos del 4% de los microcréditos cuentan con garantías FAG.</a:t>
            </a:r>
            <a:endParaRPr sz="1620"/>
          </a:p>
        </p:txBody>
      </p:sp>
      <p:sp>
        <p:nvSpPr>
          <p:cNvPr id="135" name="Google Shape;135;p22"/>
          <p:cNvSpPr/>
          <p:nvPr/>
        </p:nvSpPr>
        <p:spPr>
          <a:xfrm>
            <a:off x="311700" y="1416625"/>
            <a:ext cx="3764700" cy="17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TikTok Sans"/>
                <a:ea typeface="TikTok Sans"/>
                <a:cs typeface="TikTok Sans"/>
                <a:sym typeface="TikTok Sans"/>
              </a:rPr>
              <a:t>Tasa de interés promedio (%EA)</a:t>
            </a:r>
            <a:endParaRPr sz="600">
              <a:latin typeface="TikTok Sans"/>
              <a:ea typeface="TikTok Sans"/>
              <a:cs typeface="TikTok Sans"/>
              <a:sym typeface="TikTok Sans"/>
            </a:endParaRPr>
          </a:p>
        </p:txBody>
      </p:sp>
      <p:sp>
        <p:nvSpPr>
          <p:cNvPr id="136" name="Google Shape;136;p22"/>
          <p:cNvSpPr/>
          <p:nvPr/>
        </p:nvSpPr>
        <p:spPr>
          <a:xfrm>
            <a:off x="4810925" y="1365450"/>
            <a:ext cx="3720300" cy="173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TikTok Sans"/>
                <a:ea typeface="TikTok Sans"/>
                <a:cs typeface="TikTok Sans"/>
                <a:sym typeface="TikTok Sans"/>
              </a:rPr>
              <a:t>Valor desembolsado promedio ($) E7 (10M)</a:t>
            </a:r>
            <a:endParaRPr sz="600">
              <a:latin typeface="TikTok Sans"/>
              <a:ea typeface="TikTok Sans"/>
              <a:cs typeface="TikTok Sans"/>
              <a:sym typeface="TikTok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272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20"/>
              <a:t>En cuanto a ruralidad, después del 2024 fue </a:t>
            </a:r>
            <a:endParaRPr sz="16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